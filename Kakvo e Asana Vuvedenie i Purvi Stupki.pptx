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MOV" ContentType="video/quicktime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4630400" cy="8229600"/>
  <p:notesSz cx="8229600" cy="14630400"/>
  <p:defaultTextStyle>
    <a:defPPr>
      <a:defRPr lang="bg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92">
          <p15:clr>
            <a:srgbClr val="A4A3A4"/>
          </p15:clr>
        </p15:guide>
        <p15:guide id="2" pos="460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CC"/>
    <a:srgbClr val="FFFEFE"/>
    <a:srgbClr val="FF3399"/>
    <a:srgbClr val="FFC1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01" autoAdjust="0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486" y="102"/>
      </p:cViewPr>
      <p:guideLst>
        <p:guide orient="horz" pos="2592"/>
        <p:guide pos="46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3590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4866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0701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0768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8646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3030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asana.com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slideLayout" Target="../slideLayouts/slideLayout5.xml"/><Relationship Id="rId7" Type="http://schemas.openxmlformats.org/officeDocument/2006/relationships/image" Target="../media/image11.png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slideLayout" Target="../slideLayouts/slideLayout6.xml"/><Relationship Id="rId7" Type="http://schemas.openxmlformats.org/officeDocument/2006/relationships/image" Target="../media/image15.png"/><Relationship Id="rId2" Type="http://schemas.openxmlformats.org/officeDocument/2006/relationships/video" Target="../media/media2.MOV"/><Relationship Id="rId1" Type="http://schemas.microsoft.com/office/2007/relationships/media" Target="../media/media2.MOV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microsoft.com/office/2007/relationships/hdphoto" Target="../media/hdphoto1.wdp"/><Relationship Id="rId4" Type="http://schemas.openxmlformats.org/officeDocument/2006/relationships/notesSlide" Target="../notesSlides/notesSlide5.xml"/><Relationship Id="rId9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slideLayout" Target="../slideLayouts/slideLayout8.xml"/><Relationship Id="rId7" Type="http://schemas.openxmlformats.org/officeDocument/2006/relationships/image" Target="../media/image23.png"/><Relationship Id="rId2" Type="http://schemas.openxmlformats.org/officeDocument/2006/relationships/video" Target="../media/media3.MOV"/><Relationship Id="rId1" Type="http://schemas.microsoft.com/office/2007/relationships/media" Target="../media/media3.MOV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microsoft.com/office/2007/relationships/hdphoto" Target="../media/hdphoto1.wdp"/><Relationship Id="rId4" Type="http://schemas.openxmlformats.org/officeDocument/2006/relationships/notesSlide" Target="../notesSlides/notesSlide7.xml"/><Relationship Id="rId9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5.jpe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microsoft.com/office/2007/relationships/hdphoto" Target="../media/hdphoto2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microsoft.com/office/2007/relationships/hdphoto" Target="../media/hdphoto2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jpeg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3.png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10" Type="http://schemas.openxmlformats.org/officeDocument/2006/relationships/image" Target="../media/image49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gif"/><Relationship Id="rId2" Type="http://schemas.openxmlformats.org/officeDocument/2006/relationships/image" Target="../media/image50.gi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1795105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kern="0" spc="-89" dirty="0">
                <a:solidFill>
                  <a:srgbClr val="D73AD7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Какво е Asana? Въведение и Първи Стъпки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324124" y="3562112"/>
            <a:ext cx="7468553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kern="0" spc="-38" dirty="0">
                <a:solidFill>
                  <a:srgbClr val="FF339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Asana е платформа за управление на проекти и екипна работа. Тя помага за увеличаване на продуктивността. Екипите могат да работят по-ефективно и да постигат целите си.</a:t>
            </a:r>
            <a:endParaRPr lang="en-US" sz="1850" dirty="0">
              <a:solidFill>
                <a:srgbClr val="FF3399"/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6324124" y="4980384"/>
            <a:ext cx="746855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kern="0" spc="-38" dirty="0">
                <a:solidFill>
                  <a:srgbClr val="FF339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За да започнете, посетете </a:t>
            </a:r>
            <a:r>
              <a:rPr lang="en-US" sz="1850" u="sng" kern="0" spc="-38" dirty="0">
                <a:solidFill>
                  <a:srgbClr val="FF339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asana.com</a:t>
            </a:r>
            <a:r>
              <a:rPr lang="en-US" sz="1850" kern="0" spc="-38" dirty="0">
                <a:solidFill>
                  <a:srgbClr val="FF339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. Необходима е регистрация, но има безплатна версия. Създайте си акаунт чрез имейл или Google акаунт.</a:t>
            </a:r>
            <a:endParaRPr lang="en-US" sz="1850" dirty="0">
              <a:solidFill>
                <a:srgbClr val="FF3399"/>
              </a:solidFill>
            </a:endParaRPr>
          </a:p>
        </p:txBody>
      </p:sp>
      <p:sp>
        <p:nvSpPr>
          <p:cNvPr id="6" name="Shape 3"/>
          <p:cNvSpPr/>
          <p:nvPr/>
        </p:nvSpPr>
        <p:spPr>
          <a:xfrm>
            <a:off x="6324124" y="6033492"/>
            <a:ext cx="382905" cy="382905"/>
          </a:xfrm>
          <a:prstGeom prst="roundRect">
            <a:avLst>
              <a:gd name="adj" fmla="val 23878209"/>
            </a:avLst>
          </a:prstGeom>
          <a:noFill/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9" name="Rectangle 8"/>
          <p:cNvSpPr/>
          <p:nvPr/>
        </p:nvSpPr>
        <p:spPr>
          <a:xfrm>
            <a:off x="12876551" y="7779895"/>
            <a:ext cx="1618938" cy="344774"/>
          </a:xfrm>
          <a:prstGeom prst="rect">
            <a:avLst/>
          </a:prstGeom>
          <a:solidFill>
            <a:srgbClr val="FFFEFE"/>
          </a:solidFill>
          <a:ln>
            <a:solidFill>
              <a:srgbClr val="FFFEF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67733A04-AB25-C698-5C5C-5ADEEA8BCB78}"/>
              </a:ext>
            </a:extLst>
          </p:cNvPr>
          <p:cNvSpPr/>
          <p:nvPr/>
        </p:nvSpPr>
        <p:spPr>
          <a:xfrm>
            <a:off x="7592602" y="7348346"/>
            <a:ext cx="7037798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bg-BG" sz="1600" b="1" dirty="0">
                <a:solidFill>
                  <a:srgbClr val="FF3399"/>
                </a:solidFill>
              </a:rPr>
              <a:t>Изготвено от: Ибраим Емин, Али Фърат, Михаел Илиев 12а клас от НПТГ „Шандор Петьофи“</a:t>
            </a:r>
            <a:endParaRPr lang="en-US" sz="1600" b="1" dirty="0">
              <a:solidFill>
                <a:srgbClr val="FF3399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Картина 10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36756" y="0"/>
            <a:ext cx="16135570" cy="8229600"/>
          </a:xfrm>
          <a:prstGeom prst="rect">
            <a:avLst/>
          </a:prstGeom>
        </p:spPr>
      </p:pic>
      <p:pic>
        <p:nvPicPr>
          <p:cNvPr id="17" name="Картина 16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451" y="4204926"/>
            <a:ext cx="5985477" cy="18002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8" name="Картина 17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8850" y="4204926"/>
            <a:ext cx="5985477" cy="18002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Rectangle 6"/>
          <p:cNvSpPr/>
          <p:nvPr/>
        </p:nvSpPr>
        <p:spPr>
          <a:xfrm>
            <a:off x="12876551" y="7779895"/>
            <a:ext cx="1618938" cy="344774"/>
          </a:xfrm>
          <a:prstGeom prst="rect">
            <a:avLst/>
          </a:prstGeom>
          <a:solidFill>
            <a:srgbClr val="FFFEFE"/>
          </a:solidFill>
          <a:ln>
            <a:solidFill>
              <a:srgbClr val="FFFEF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pic>
        <p:nvPicPr>
          <p:cNvPr id="8" name="Картина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989" y="0"/>
            <a:ext cx="3206659" cy="1600200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1541149" y="4316504"/>
            <a:ext cx="4911613" cy="1139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3000"/>
              </a:lnSpc>
              <a:buNone/>
            </a:pPr>
            <a:r>
              <a:rPr lang="en-US" sz="1850" b="1" kern="0" spc="-38" dirty="0">
                <a:solidFill>
                  <a:schemeClr val="bg1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За да създадете екип, следвайте стъпките в Asana. Добавете членове чрез имейл или ги поканете.</a:t>
            </a:r>
            <a:endParaRPr lang="en-US" sz="1850" b="1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8690996" y="4332867"/>
            <a:ext cx="4361184" cy="1139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3000"/>
              </a:lnSpc>
              <a:buNone/>
            </a:pPr>
            <a:r>
              <a:rPr lang="en-US" sz="1850" b="1" kern="0" spc="-38" dirty="0">
                <a:solidFill>
                  <a:schemeClr val="bg1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Изберете дали екипът да е публичен или частен. Безплатният план има ограничение до 15 члена.</a:t>
            </a:r>
            <a:endParaRPr lang="en-US" sz="1850" b="1" dirty="0">
              <a:solidFill>
                <a:schemeClr val="bg1"/>
              </a:solidFill>
            </a:endParaRPr>
          </a:p>
        </p:txBody>
      </p:sp>
      <p:pic>
        <p:nvPicPr>
          <p:cNvPr id="19" name="Картина 18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8687" y="3207962"/>
            <a:ext cx="3956535" cy="119121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" name="Text 1"/>
          <p:cNvSpPr/>
          <p:nvPr/>
        </p:nvSpPr>
        <p:spPr>
          <a:xfrm>
            <a:off x="2588864" y="3627596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kern="0" spc="-44" dirty="0">
                <a:solidFill>
                  <a:schemeClr val="bg1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Създаване на Екип</a:t>
            </a:r>
            <a:endParaRPr lang="en-US" sz="2200" dirty="0">
              <a:solidFill>
                <a:schemeClr val="bg1"/>
              </a:solidFill>
            </a:endParaRPr>
          </a:p>
        </p:txBody>
      </p:sp>
      <p:pic>
        <p:nvPicPr>
          <p:cNvPr id="20" name="Картина 19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3499" y="3170297"/>
            <a:ext cx="3956535" cy="119121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5" name="Text 3"/>
          <p:cNvSpPr/>
          <p:nvPr/>
        </p:nvSpPr>
        <p:spPr>
          <a:xfrm>
            <a:off x="9011453" y="3589929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kern="0" spc="-44" dirty="0">
                <a:solidFill>
                  <a:schemeClr val="bg1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Видимост на Екипа</a:t>
            </a:r>
            <a:endParaRPr lang="en-US" sz="2200" dirty="0">
              <a:solidFill>
                <a:schemeClr val="bg1"/>
              </a:solidFill>
            </a:endParaRPr>
          </a:p>
        </p:txBody>
      </p:sp>
      <p:pic>
        <p:nvPicPr>
          <p:cNvPr id="21" name="Картина 20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6730" y="1888307"/>
            <a:ext cx="8035111" cy="119121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ext 0"/>
          <p:cNvSpPr/>
          <p:nvPr/>
        </p:nvSpPr>
        <p:spPr>
          <a:xfrm>
            <a:off x="3521303" y="2131907"/>
            <a:ext cx="6898243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kern="0" spc="-89" dirty="0">
                <a:solidFill>
                  <a:srgbClr val="FFFEFE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Създаване на Екип в Asana</a:t>
            </a:r>
            <a:endParaRPr lang="en-US" sz="4400" dirty="0">
              <a:solidFill>
                <a:srgbClr val="FFFEFE"/>
              </a:solidFill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Картина 17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0" y="-45577"/>
            <a:ext cx="9144000" cy="827517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7" name="Картина 16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3612" y="4991278"/>
            <a:ext cx="6568802" cy="18002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6" name="Картина 15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018" y="3026109"/>
            <a:ext cx="3786722" cy="18002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4" name="Картина 13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3612" y="2902309"/>
            <a:ext cx="3343632" cy="18002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1899642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kern="0" spc="-89" dirty="0">
                <a:solidFill>
                  <a:schemeClr val="bg1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Роли и Права в Екипа</a:t>
            </a:r>
            <a:endParaRPr lang="en-US" sz="4400" dirty="0">
              <a:solidFill>
                <a:schemeClr val="bg1"/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6571059" y="3209568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kern="0" spc="-44" dirty="0">
                <a:solidFill>
                  <a:srgbClr val="FF33CC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Администратор</a:t>
            </a:r>
            <a:endParaRPr lang="en-US" sz="2200" dirty="0">
              <a:solidFill>
                <a:srgbClr val="FF33CC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6176922" y="3667322"/>
            <a:ext cx="2683300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3000"/>
              </a:lnSpc>
              <a:buNone/>
            </a:pPr>
            <a:r>
              <a:rPr lang="en-US" sz="1850" kern="0" spc="-38" dirty="0">
                <a:solidFill>
                  <a:srgbClr val="FF33C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Има пълен контрол над екипа и проектите.</a:t>
            </a:r>
            <a:endParaRPr lang="en-US" sz="1850" dirty="0">
              <a:solidFill>
                <a:srgbClr val="FF33CC"/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10424993" y="3209568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kern="0" spc="-44" dirty="0">
                <a:solidFill>
                  <a:srgbClr val="FF33CC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Член</a:t>
            </a:r>
            <a:endParaRPr lang="en-US" sz="2200" dirty="0">
              <a:solidFill>
                <a:srgbClr val="FF33CC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10424993" y="3705106"/>
            <a:ext cx="312074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kern="0" spc="-38" dirty="0">
                <a:solidFill>
                  <a:srgbClr val="FF33C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Има стандартен достъп до проектите.</a:t>
            </a:r>
            <a:endParaRPr lang="en-US" sz="1850" dirty="0">
              <a:solidFill>
                <a:srgbClr val="FF33CC"/>
              </a:solidFill>
            </a:endParaRPr>
          </a:p>
        </p:txBody>
      </p:sp>
      <p:sp>
        <p:nvSpPr>
          <p:cNvPr id="11" name="Text 8"/>
          <p:cNvSpPr/>
          <p:nvPr/>
        </p:nvSpPr>
        <p:spPr>
          <a:xfrm>
            <a:off x="6571059" y="5204341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kern="0" spc="-44" dirty="0">
                <a:solidFill>
                  <a:srgbClr val="FF33CC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Гост</a:t>
            </a:r>
            <a:endParaRPr lang="en-US" sz="2200" dirty="0">
              <a:solidFill>
                <a:srgbClr val="FF33CC"/>
              </a:solidFill>
            </a:endParaRPr>
          </a:p>
        </p:txBody>
      </p:sp>
      <p:sp>
        <p:nvSpPr>
          <p:cNvPr id="12" name="Text 9"/>
          <p:cNvSpPr/>
          <p:nvPr/>
        </p:nvSpPr>
        <p:spPr>
          <a:xfrm>
            <a:off x="6571059" y="5699879"/>
            <a:ext cx="6974681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kern="0" spc="-38" dirty="0">
                <a:solidFill>
                  <a:srgbClr val="FF33C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Има ограничен достъп само до определени проекти.</a:t>
            </a:r>
            <a:endParaRPr lang="en-US" sz="1850" dirty="0">
              <a:solidFill>
                <a:srgbClr val="FF33CC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2876551" y="7779895"/>
            <a:ext cx="1618938" cy="344774"/>
          </a:xfrm>
          <a:prstGeom prst="rect">
            <a:avLst/>
          </a:prstGeom>
          <a:solidFill>
            <a:srgbClr val="FFFEFE"/>
          </a:solidFill>
          <a:ln>
            <a:solidFill>
              <a:srgbClr val="FFFEF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37724" y="1428869"/>
            <a:ext cx="6579513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kern="0" spc="-89" dirty="0">
                <a:solidFill>
                  <a:srgbClr val="D73AD7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Създаване на Нов Проект</a:t>
            </a:r>
            <a:endParaRPr lang="en-US" sz="44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724" y="2491859"/>
            <a:ext cx="1196816" cy="143625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603063" y="2540675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kern="0" spc="-44" dirty="0">
                <a:solidFill>
                  <a:srgbClr val="FF3399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Създаване</a:t>
            </a:r>
            <a:endParaRPr lang="en-US" sz="2200" dirty="0">
              <a:solidFill>
                <a:srgbClr val="FF3399"/>
              </a:solidFill>
            </a:endParaRPr>
          </a:p>
        </p:txBody>
      </p:sp>
      <p:sp>
        <p:nvSpPr>
          <p:cNvPr id="6" name="Text 2"/>
          <p:cNvSpPr/>
          <p:nvPr/>
        </p:nvSpPr>
        <p:spPr>
          <a:xfrm>
            <a:off x="2374463" y="3229570"/>
            <a:ext cx="591276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kern="0" spc="-38" dirty="0">
                <a:solidFill>
                  <a:srgbClr val="FF339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Създайте проект от нулата или от готов шаблон.</a:t>
            </a:r>
            <a:endParaRPr lang="en-US" sz="1850" dirty="0">
              <a:solidFill>
                <a:srgbClr val="FF3399"/>
              </a:solidFill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724" y="3928110"/>
            <a:ext cx="1196816" cy="143625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393513" y="4167426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kern="0" spc="-44" dirty="0">
                <a:solidFill>
                  <a:srgbClr val="FF3399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Тип на Проекта</a:t>
            </a:r>
            <a:endParaRPr lang="en-US" sz="2200" dirty="0">
              <a:solidFill>
                <a:srgbClr val="FF3399"/>
              </a:solidFill>
            </a:endParaRPr>
          </a:p>
        </p:txBody>
      </p:sp>
      <p:sp>
        <p:nvSpPr>
          <p:cNvPr id="9" name="Text 4"/>
          <p:cNvSpPr/>
          <p:nvPr/>
        </p:nvSpPr>
        <p:spPr>
          <a:xfrm>
            <a:off x="2393513" y="4662964"/>
            <a:ext cx="591276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kern="0" spc="-38" dirty="0">
                <a:solidFill>
                  <a:srgbClr val="FF339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Изберете тип – Kanban, списък или календар.</a:t>
            </a:r>
            <a:endParaRPr lang="en-US" sz="1850" dirty="0">
              <a:solidFill>
                <a:srgbClr val="FF3399"/>
              </a:solidFill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7724" y="5364361"/>
            <a:ext cx="1196816" cy="143625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393513" y="5603677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kern="0" spc="-44" dirty="0">
                <a:solidFill>
                  <a:srgbClr val="FF3399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Настройки</a:t>
            </a:r>
            <a:endParaRPr lang="en-US" sz="2200" dirty="0">
              <a:solidFill>
                <a:srgbClr val="FF3399"/>
              </a:solidFill>
            </a:endParaRPr>
          </a:p>
        </p:txBody>
      </p:sp>
      <p:sp>
        <p:nvSpPr>
          <p:cNvPr id="12" name="Text 6"/>
          <p:cNvSpPr/>
          <p:nvPr/>
        </p:nvSpPr>
        <p:spPr>
          <a:xfrm>
            <a:off x="2393513" y="6099215"/>
            <a:ext cx="591276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kern="0" spc="-38" dirty="0">
                <a:solidFill>
                  <a:srgbClr val="FF339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Задайте име, описание и видимост на проекта.</a:t>
            </a:r>
            <a:endParaRPr lang="en-US" sz="1850" dirty="0">
              <a:solidFill>
                <a:srgbClr val="FF3399"/>
              </a:solidFill>
            </a:endParaRPr>
          </a:p>
        </p:txBody>
      </p:sp>
      <p:pic>
        <p:nvPicPr>
          <p:cNvPr id="13" name="trim.975F29E3-4C21-4A16-804C-607F64094DA4.MOV">
            <a:hlinkClick r:id="" action="ppaction://media"/>
            <a:extLst>
              <a:ext uri="{FF2B5EF4-FFF2-40B4-BE49-F238E27FC236}">
                <a16:creationId xmlns:a16="http://schemas.microsoft.com/office/drawing/2014/main" id="{AC2714EE-3AC1-A5EB-AC35-650DA424236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0334844" y="0"/>
            <a:ext cx="3806825" cy="8229600"/>
          </a:xfrm>
          <a:prstGeom prst="rect">
            <a:avLst/>
          </a:prstGeom>
        </p:spPr>
      </p:pic>
      <p:sp>
        <p:nvSpPr>
          <p:cNvPr id="14" name="Shape 3"/>
          <p:cNvSpPr/>
          <p:nvPr/>
        </p:nvSpPr>
        <p:spPr>
          <a:xfrm>
            <a:off x="2340488" y="4565809"/>
            <a:ext cx="2345809" cy="45719"/>
          </a:xfrm>
          <a:prstGeom prst="roundRect">
            <a:avLst>
              <a:gd name="adj" fmla="val 659712"/>
            </a:avLst>
          </a:prstGeom>
          <a:solidFill>
            <a:srgbClr val="DABADD"/>
          </a:solidFill>
          <a:ln/>
        </p:spPr>
        <p:txBody>
          <a:bodyPr/>
          <a:lstStyle/>
          <a:p>
            <a:endParaRPr lang="bg-BG"/>
          </a:p>
        </p:txBody>
      </p:sp>
      <p:sp>
        <p:nvSpPr>
          <p:cNvPr id="17" name="Shape 3"/>
          <p:cNvSpPr/>
          <p:nvPr/>
        </p:nvSpPr>
        <p:spPr>
          <a:xfrm>
            <a:off x="2340487" y="2959358"/>
            <a:ext cx="2345809" cy="45719"/>
          </a:xfrm>
          <a:prstGeom prst="roundRect">
            <a:avLst>
              <a:gd name="adj" fmla="val 659712"/>
            </a:avLst>
          </a:prstGeom>
          <a:solidFill>
            <a:srgbClr val="DABADD"/>
          </a:solidFill>
          <a:ln/>
        </p:spPr>
        <p:txBody>
          <a:bodyPr/>
          <a:lstStyle/>
          <a:p>
            <a:endParaRPr lang="bg-BG"/>
          </a:p>
        </p:txBody>
      </p:sp>
      <p:sp>
        <p:nvSpPr>
          <p:cNvPr id="18" name="Shape 3"/>
          <p:cNvSpPr/>
          <p:nvPr/>
        </p:nvSpPr>
        <p:spPr>
          <a:xfrm>
            <a:off x="2340490" y="5955626"/>
            <a:ext cx="2345809" cy="45719"/>
          </a:xfrm>
          <a:prstGeom prst="roundRect">
            <a:avLst>
              <a:gd name="adj" fmla="val 659712"/>
            </a:avLst>
          </a:prstGeom>
          <a:solidFill>
            <a:srgbClr val="DABADD"/>
          </a:solidFill>
          <a:ln/>
        </p:spPr>
        <p:txBody>
          <a:bodyPr/>
          <a:lstStyle/>
          <a:p>
            <a:endParaRPr lang="bg-BG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658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6434" y="3273238"/>
            <a:ext cx="562451" cy="56245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65322" y="4075004"/>
            <a:ext cx="2250162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kern="0" spc="-44" dirty="0">
                <a:solidFill>
                  <a:srgbClr val="FF33CC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Колони</a:t>
            </a:r>
            <a:endParaRPr lang="en-US" sz="2200" dirty="0">
              <a:solidFill>
                <a:srgbClr val="FF33CC"/>
              </a:solidFill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15569" y="3273238"/>
            <a:ext cx="562451" cy="56245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215569" y="4075005"/>
            <a:ext cx="2250162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kern="0" spc="-44" dirty="0">
                <a:solidFill>
                  <a:srgbClr val="FF33CC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Карти</a:t>
            </a:r>
            <a:endParaRPr lang="en-US" sz="2200" dirty="0">
              <a:solidFill>
                <a:srgbClr val="FF33CC"/>
              </a:solidFill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24705" y="3273238"/>
            <a:ext cx="562570" cy="56257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824705" y="4075124"/>
            <a:ext cx="2250281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kern="0" spc="-44" dirty="0">
                <a:solidFill>
                  <a:srgbClr val="FF33CC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Drag-and-drop</a:t>
            </a:r>
            <a:endParaRPr lang="en-US" sz="2200" dirty="0">
              <a:solidFill>
                <a:srgbClr val="FF33CC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2876551" y="7779895"/>
            <a:ext cx="1618938" cy="344774"/>
          </a:xfrm>
          <a:prstGeom prst="rect">
            <a:avLst/>
          </a:prstGeom>
          <a:solidFill>
            <a:srgbClr val="FFFEFE"/>
          </a:solidFill>
          <a:ln>
            <a:solidFill>
              <a:srgbClr val="FFFEF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pic>
        <p:nvPicPr>
          <p:cNvPr id="2" name="trim.A3581725-8D60-40C7-AAB6-E6599D3D8A73.MOV">
            <a:hlinkClick r:id="" action="ppaction://media"/>
            <a:extLst>
              <a:ext uri="{FF2B5EF4-FFF2-40B4-BE49-F238E27FC236}">
                <a16:creationId xmlns:a16="http://schemas.microsoft.com/office/drawing/2014/main" id="{6B69FF7F-EE87-3244-D535-777432FD2E6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0025568" y="-67060"/>
            <a:ext cx="4110247" cy="8229600"/>
          </a:xfrm>
          <a:prstGeom prst="rect">
            <a:avLst/>
          </a:prstGeom>
        </p:spPr>
      </p:pic>
      <p:sp>
        <p:nvSpPr>
          <p:cNvPr id="14" name="Shape 3"/>
          <p:cNvSpPr/>
          <p:nvPr/>
        </p:nvSpPr>
        <p:spPr>
          <a:xfrm>
            <a:off x="857163" y="4526460"/>
            <a:ext cx="2758042" cy="45719"/>
          </a:xfrm>
          <a:prstGeom prst="roundRect">
            <a:avLst>
              <a:gd name="adj" fmla="val 659712"/>
            </a:avLst>
          </a:prstGeom>
          <a:solidFill>
            <a:srgbClr val="DABADD"/>
          </a:solidFill>
          <a:ln/>
        </p:spPr>
        <p:txBody>
          <a:bodyPr/>
          <a:lstStyle/>
          <a:p>
            <a:endParaRPr lang="bg-BG"/>
          </a:p>
        </p:txBody>
      </p:sp>
      <p:sp>
        <p:nvSpPr>
          <p:cNvPr id="15" name="Shape 3"/>
          <p:cNvSpPr/>
          <p:nvPr/>
        </p:nvSpPr>
        <p:spPr>
          <a:xfrm>
            <a:off x="3813223" y="4547683"/>
            <a:ext cx="2758042" cy="45719"/>
          </a:xfrm>
          <a:prstGeom prst="roundRect">
            <a:avLst>
              <a:gd name="adj" fmla="val 659712"/>
            </a:avLst>
          </a:prstGeom>
          <a:solidFill>
            <a:srgbClr val="DABADD"/>
          </a:solidFill>
          <a:ln/>
        </p:spPr>
        <p:txBody>
          <a:bodyPr/>
          <a:lstStyle/>
          <a:p>
            <a:endParaRPr lang="bg-BG"/>
          </a:p>
        </p:txBody>
      </p:sp>
      <p:sp>
        <p:nvSpPr>
          <p:cNvPr id="16" name="Shape 3"/>
          <p:cNvSpPr/>
          <p:nvPr/>
        </p:nvSpPr>
        <p:spPr>
          <a:xfrm>
            <a:off x="6824705" y="4570542"/>
            <a:ext cx="2758042" cy="45719"/>
          </a:xfrm>
          <a:prstGeom prst="roundRect">
            <a:avLst>
              <a:gd name="adj" fmla="val 659712"/>
            </a:avLst>
          </a:prstGeom>
          <a:solidFill>
            <a:srgbClr val="DABADD"/>
          </a:solidFill>
          <a:ln/>
        </p:spPr>
        <p:txBody>
          <a:bodyPr/>
          <a:lstStyle/>
          <a:p>
            <a:endParaRPr lang="bg-BG"/>
          </a:p>
        </p:txBody>
      </p:sp>
      <p:pic>
        <p:nvPicPr>
          <p:cNvPr id="17" name="Картина 16"/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416" y="4616262"/>
            <a:ext cx="3094636" cy="153579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8" name="Картина 17"/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5990" y="4593401"/>
            <a:ext cx="2652508" cy="139158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9" name="Картина 18"/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4705" y="4616262"/>
            <a:ext cx="2656421" cy="136872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Text 2"/>
          <p:cNvSpPr/>
          <p:nvPr/>
        </p:nvSpPr>
        <p:spPr>
          <a:xfrm>
            <a:off x="924210" y="4570543"/>
            <a:ext cx="2932386" cy="1722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kern="0" spc="-38" dirty="0">
                <a:solidFill>
                  <a:srgbClr val="FF33C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Дефинирайте етапите: "За изпълнение", "В процес", "Завършено".</a:t>
            </a:r>
            <a:endParaRPr lang="en-US" sz="1850" dirty="0">
              <a:solidFill>
                <a:srgbClr val="FF33CC"/>
              </a:solidFill>
            </a:endParaRPr>
          </a:p>
        </p:txBody>
      </p:sp>
      <p:sp>
        <p:nvSpPr>
          <p:cNvPr id="9" name="Text 4"/>
          <p:cNvSpPr/>
          <p:nvPr/>
        </p:nvSpPr>
        <p:spPr>
          <a:xfrm>
            <a:off x="4067163" y="4734900"/>
            <a:ext cx="2250162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3000"/>
              </a:lnSpc>
              <a:buNone/>
            </a:pPr>
            <a:r>
              <a:rPr lang="en-US" sz="1850" kern="0" spc="-38" dirty="0">
                <a:solidFill>
                  <a:srgbClr val="FF33C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Задачите се поставят в колоните.</a:t>
            </a:r>
            <a:endParaRPr lang="en-US" sz="1850" dirty="0">
              <a:solidFill>
                <a:srgbClr val="FF33CC"/>
              </a:solidFill>
            </a:endParaRPr>
          </a:p>
        </p:txBody>
      </p:sp>
      <p:sp>
        <p:nvSpPr>
          <p:cNvPr id="12" name="Text 6"/>
          <p:cNvSpPr/>
          <p:nvPr/>
        </p:nvSpPr>
        <p:spPr>
          <a:xfrm>
            <a:off x="7078585" y="4734721"/>
            <a:ext cx="2250281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3000"/>
              </a:lnSpc>
              <a:buNone/>
            </a:pPr>
            <a:r>
              <a:rPr lang="en-US" sz="1850" kern="0" spc="-38" dirty="0">
                <a:solidFill>
                  <a:srgbClr val="FF33C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Премествайте задачите лесно.</a:t>
            </a:r>
            <a:endParaRPr lang="en-US" sz="1850" dirty="0">
              <a:solidFill>
                <a:srgbClr val="FF33CC"/>
              </a:solidFill>
            </a:endParaRPr>
          </a:p>
        </p:txBody>
      </p:sp>
      <p:pic>
        <p:nvPicPr>
          <p:cNvPr id="25" name="Картина 24"/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6434" y="1038592"/>
            <a:ext cx="6851766" cy="153579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" name="Text 0"/>
          <p:cNvSpPr/>
          <p:nvPr/>
        </p:nvSpPr>
        <p:spPr>
          <a:xfrm>
            <a:off x="1887659" y="1454482"/>
            <a:ext cx="6059091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kern="0" spc="-89" dirty="0">
                <a:solidFill>
                  <a:srgbClr val="D73AD7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Табло за Задачи (Board)</a:t>
            </a:r>
            <a:endParaRPr lang="en-US" sz="440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423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Картина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3981" y="-689028"/>
            <a:ext cx="15262801" cy="9860067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3510047" y="912335"/>
            <a:ext cx="6836331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kern="0" spc="-89" dirty="0">
                <a:solidFill>
                  <a:srgbClr val="D73AD7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Форматиране на Задачите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740342" y="3682007"/>
            <a:ext cx="3136210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just">
              <a:lnSpc>
                <a:spcPts val="2750"/>
              </a:lnSpc>
              <a:buNone/>
            </a:pPr>
            <a:r>
              <a:rPr lang="en-US" sz="2200" kern="0" spc="-44" dirty="0">
                <a:solidFill>
                  <a:srgbClr val="FF3399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Описание</a:t>
            </a:r>
            <a:endParaRPr lang="en-US" sz="2200" dirty="0">
              <a:solidFill>
                <a:srgbClr val="FF3399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959077" y="4307681"/>
            <a:ext cx="3407972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3000"/>
              </a:lnSpc>
              <a:buNone/>
            </a:pPr>
            <a:r>
              <a:rPr lang="en-US" sz="1850" kern="0" spc="-38" dirty="0">
                <a:solidFill>
                  <a:srgbClr val="FF339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Добавете подробна информация за задачата.</a:t>
            </a:r>
            <a:endParaRPr lang="en-US" sz="1850" dirty="0">
              <a:solidFill>
                <a:srgbClr val="FF3399"/>
              </a:solidFill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5673" y="2793206"/>
            <a:ext cx="3627358" cy="362735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674454" y="4307681"/>
            <a:ext cx="598408" cy="598408"/>
          </a:xfrm>
          <a:prstGeom prst="roundRect">
            <a:avLst>
              <a:gd name="adj" fmla="val 1526526"/>
            </a:avLst>
          </a:prstGeom>
          <a:solidFill>
            <a:srgbClr val="F4D4F7"/>
          </a:solidFill>
          <a:ln w="7620">
            <a:solidFill>
              <a:srgbClr val="DABADD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7" name="Text 4"/>
          <p:cNvSpPr/>
          <p:nvPr/>
        </p:nvSpPr>
        <p:spPr>
          <a:xfrm>
            <a:off x="4838998" y="4438531"/>
            <a:ext cx="269200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100" kern="0" spc="-38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1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9412267" y="2960580"/>
            <a:ext cx="3136210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just">
              <a:lnSpc>
                <a:spcPts val="2750"/>
              </a:lnSpc>
              <a:buNone/>
            </a:pPr>
            <a:r>
              <a:rPr lang="en-US" sz="2200" kern="0" spc="-44" dirty="0">
                <a:solidFill>
                  <a:srgbClr val="FF3399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Прикачени файлове</a:t>
            </a:r>
            <a:endParaRPr lang="en-US" sz="2200" dirty="0">
              <a:solidFill>
                <a:srgbClr val="FF3399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8892004" y="3474958"/>
            <a:ext cx="479401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3000"/>
              </a:lnSpc>
              <a:buNone/>
            </a:pPr>
            <a:r>
              <a:rPr lang="en-US" sz="1850" kern="0" spc="-38" dirty="0">
                <a:solidFill>
                  <a:srgbClr val="FF339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Прикачете документи, изображения и видео.</a:t>
            </a:r>
            <a:endParaRPr lang="en-US" sz="1850" dirty="0">
              <a:solidFill>
                <a:srgbClr val="FF3399"/>
              </a:solidFill>
            </a:endParaRPr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5673" y="2793206"/>
            <a:ext cx="3627358" cy="362735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7292876" y="2795826"/>
            <a:ext cx="598408" cy="598408"/>
          </a:xfrm>
          <a:prstGeom prst="roundRect">
            <a:avLst>
              <a:gd name="adj" fmla="val 1526526"/>
            </a:avLst>
          </a:prstGeom>
          <a:solidFill>
            <a:srgbClr val="F4D4F7"/>
          </a:solidFill>
          <a:ln w="7620">
            <a:solidFill>
              <a:srgbClr val="DABADD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12" name="Text 8"/>
          <p:cNvSpPr/>
          <p:nvPr/>
        </p:nvSpPr>
        <p:spPr>
          <a:xfrm>
            <a:off x="7457420" y="2926675"/>
            <a:ext cx="269200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100" kern="0" spc="-38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2</a:t>
            </a:r>
            <a:endParaRPr lang="en-US" sz="2100" dirty="0"/>
          </a:p>
        </p:txBody>
      </p:sp>
      <p:sp>
        <p:nvSpPr>
          <p:cNvPr id="13" name="Text 9"/>
          <p:cNvSpPr/>
          <p:nvPr/>
        </p:nvSpPr>
        <p:spPr>
          <a:xfrm>
            <a:off x="9412267" y="5073728"/>
            <a:ext cx="3136210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just">
              <a:lnSpc>
                <a:spcPts val="2750"/>
              </a:lnSpc>
              <a:buNone/>
            </a:pPr>
            <a:r>
              <a:rPr lang="en-US" sz="2200" kern="0" spc="-44" dirty="0">
                <a:solidFill>
                  <a:srgbClr val="FF3399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Текстов редактор</a:t>
            </a:r>
            <a:endParaRPr lang="en-US" sz="2200" dirty="0">
              <a:solidFill>
                <a:srgbClr val="FF3399"/>
              </a:solidFill>
            </a:endParaRPr>
          </a:p>
        </p:txBody>
      </p:sp>
      <p:sp>
        <p:nvSpPr>
          <p:cNvPr id="14" name="Text 10"/>
          <p:cNvSpPr/>
          <p:nvPr/>
        </p:nvSpPr>
        <p:spPr>
          <a:xfrm>
            <a:off x="8892004" y="5468184"/>
            <a:ext cx="479401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3000"/>
              </a:lnSpc>
              <a:buNone/>
            </a:pPr>
            <a:r>
              <a:rPr lang="en-US" sz="1850" kern="0" spc="-38" dirty="0">
                <a:solidFill>
                  <a:srgbClr val="FF339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Използвайте заглавия, списъци и удебелен текст.</a:t>
            </a:r>
            <a:endParaRPr lang="en-US" sz="1850" dirty="0">
              <a:solidFill>
                <a:srgbClr val="FF3399"/>
              </a:solidFill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5673" y="2793206"/>
            <a:ext cx="3627358" cy="3627358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7292876" y="5819418"/>
            <a:ext cx="598408" cy="598408"/>
          </a:xfrm>
          <a:prstGeom prst="roundRect">
            <a:avLst>
              <a:gd name="adj" fmla="val 1526526"/>
            </a:avLst>
          </a:prstGeom>
          <a:solidFill>
            <a:srgbClr val="F4D4F7"/>
          </a:solidFill>
          <a:ln w="7620">
            <a:solidFill>
              <a:srgbClr val="DABADD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17" name="Text 12"/>
          <p:cNvSpPr/>
          <p:nvPr/>
        </p:nvSpPr>
        <p:spPr>
          <a:xfrm>
            <a:off x="7457420" y="5950268"/>
            <a:ext cx="269200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100" kern="0" spc="-38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3</a:t>
            </a:r>
            <a:endParaRPr lang="en-US" sz="2100" dirty="0"/>
          </a:p>
        </p:txBody>
      </p:sp>
      <p:sp>
        <p:nvSpPr>
          <p:cNvPr id="18" name="Rectangle 17"/>
          <p:cNvSpPr/>
          <p:nvPr/>
        </p:nvSpPr>
        <p:spPr>
          <a:xfrm>
            <a:off x="12876551" y="7779895"/>
            <a:ext cx="1618938" cy="344774"/>
          </a:xfrm>
          <a:prstGeom prst="rect">
            <a:avLst/>
          </a:prstGeom>
          <a:solidFill>
            <a:srgbClr val="FFFEFE"/>
          </a:solidFill>
          <a:ln>
            <a:solidFill>
              <a:srgbClr val="FFFEF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2" name="Shape 3"/>
          <p:cNvSpPr/>
          <p:nvPr/>
        </p:nvSpPr>
        <p:spPr>
          <a:xfrm>
            <a:off x="1351063" y="4045151"/>
            <a:ext cx="2374290" cy="45719"/>
          </a:xfrm>
          <a:prstGeom prst="roundRect">
            <a:avLst>
              <a:gd name="adj" fmla="val 659712"/>
            </a:avLst>
          </a:prstGeom>
          <a:solidFill>
            <a:srgbClr val="DABADD"/>
          </a:solidFill>
          <a:ln/>
        </p:spPr>
        <p:txBody>
          <a:bodyPr/>
          <a:lstStyle/>
          <a:p>
            <a:endParaRPr lang="bg-BG" dirty="0"/>
          </a:p>
        </p:txBody>
      </p:sp>
      <p:sp>
        <p:nvSpPr>
          <p:cNvPr id="23" name="Shape 3"/>
          <p:cNvSpPr/>
          <p:nvPr/>
        </p:nvSpPr>
        <p:spPr>
          <a:xfrm>
            <a:off x="9653925" y="3400438"/>
            <a:ext cx="2374290" cy="45719"/>
          </a:xfrm>
          <a:prstGeom prst="roundRect">
            <a:avLst>
              <a:gd name="adj" fmla="val 659712"/>
            </a:avLst>
          </a:prstGeom>
          <a:solidFill>
            <a:srgbClr val="DABADD"/>
          </a:solidFill>
          <a:ln/>
        </p:spPr>
        <p:txBody>
          <a:bodyPr/>
          <a:lstStyle/>
          <a:p>
            <a:endParaRPr lang="bg-BG" dirty="0"/>
          </a:p>
        </p:txBody>
      </p:sp>
      <p:sp>
        <p:nvSpPr>
          <p:cNvPr id="24" name="Shape 3"/>
          <p:cNvSpPr/>
          <p:nvPr/>
        </p:nvSpPr>
        <p:spPr>
          <a:xfrm>
            <a:off x="9538311" y="5458015"/>
            <a:ext cx="2374290" cy="45719"/>
          </a:xfrm>
          <a:prstGeom prst="roundRect">
            <a:avLst>
              <a:gd name="adj" fmla="val 659712"/>
            </a:avLst>
          </a:prstGeom>
          <a:solidFill>
            <a:srgbClr val="DABADD"/>
          </a:solidFill>
          <a:ln/>
        </p:spPr>
        <p:txBody>
          <a:bodyPr/>
          <a:lstStyle/>
          <a:p>
            <a:endParaRPr lang="bg-BG" dirty="0"/>
          </a:p>
        </p:txBody>
      </p:sp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837724" y="3456503"/>
            <a:ext cx="538520" cy="538520"/>
          </a:xfrm>
          <a:prstGeom prst="roundRect">
            <a:avLst>
              <a:gd name="adj" fmla="val 18670"/>
            </a:avLst>
          </a:prstGeom>
          <a:solidFill>
            <a:srgbClr val="F4D4F7"/>
          </a:solidFill>
          <a:ln w="7620">
            <a:solidFill>
              <a:srgbClr val="DABADD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974" y="3514487"/>
            <a:ext cx="337899" cy="42243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615559" y="345650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just">
              <a:lnSpc>
                <a:spcPts val="2750"/>
              </a:lnSpc>
              <a:buNone/>
            </a:pPr>
            <a:r>
              <a:rPr lang="en-US" sz="2200" kern="0" spc="-44" dirty="0">
                <a:solidFill>
                  <a:srgbClr val="FF3399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Краен срок</a:t>
            </a:r>
            <a:endParaRPr lang="en-US" sz="2200" dirty="0">
              <a:solidFill>
                <a:srgbClr val="FF3399"/>
              </a:solidFill>
            </a:endParaRPr>
          </a:p>
        </p:txBody>
      </p:sp>
      <p:sp>
        <p:nvSpPr>
          <p:cNvPr id="7" name="Text 3"/>
          <p:cNvSpPr/>
          <p:nvPr/>
        </p:nvSpPr>
        <p:spPr>
          <a:xfrm>
            <a:off x="1615559" y="3952042"/>
            <a:ext cx="283678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3000"/>
              </a:lnSpc>
              <a:buNone/>
            </a:pPr>
            <a:r>
              <a:rPr lang="en-US" sz="1850" kern="0" spc="-38" dirty="0">
                <a:solidFill>
                  <a:srgbClr val="FF339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Задайте краен срок за задачата.</a:t>
            </a:r>
            <a:endParaRPr lang="en-US" sz="1850" dirty="0">
              <a:solidFill>
                <a:srgbClr val="FF3399"/>
              </a:solidFill>
            </a:endParaRPr>
          </a:p>
        </p:txBody>
      </p:sp>
      <p:sp>
        <p:nvSpPr>
          <p:cNvPr id="8" name="Shape 4"/>
          <p:cNvSpPr/>
          <p:nvPr/>
        </p:nvSpPr>
        <p:spPr>
          <a:xfrm>
            <a:off x="4691658" y="3456503"/>
            <a:ext cx="538520" cy="538520"/>
          </a:xfrm>
          <a:prstGeom prst="roundRect">
            <a:avLst>
              <a:gd name="adj" fmla="val 18670"/>
            </a:avLst>
          </a:prstGeom>
          <a:solidFill>
            <a:srgbClr val="F4D4F7"/>
          </a:solidFill>
          <a:ln w="7620">
            <a:solidFill>
              <a:srgbClr val="DABADD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1908" y="3514487"/>
            <a:ext cx="337899" cy="42243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469493" y="345650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just">
              <a:lnSpc>
                <a:spcPts val="2750"/>
              </a:lnSpc>
              <a:buNone/>
            </a:pPr>
            <a:r>
              <a:rPr lang="en-US" sz="2200" kern="0" spc="-44" dirty="0">
                <a:solidFill>
                  <a:srgbClr val="FF3399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Отговорник</a:t>
            </a:r>
            <a:endParaRPr lang="en-US" sz="2200" dirty="0">
              <a:solidFill>
                <a:srgbClr val="FF3399"/>
              </a:solidFill>
            </a:endParaRPr>
          </a:p>
        </p:txBody>
      </p:sp>
      <p:sp>
        <p:nvSpPr>
          <p:cNvPr id="11" name="Text 6"/>
          <p:cNvSpPr/>
          <p:nvPr/>
        </p:nvSpPr>
        <p:spPr>
          <a:xfrm>
            <a:off x="5448895" y="4114800"/>
            <a:ext cx="283678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3000"/>
              </a:lnSpc>
              <a:buNone/>
            </a:pPr>
            <a:r>
              <a:rPr lang="en-US" sz="1850" kern="0" spc="-38" dirty="0">
                <a:solidFill>
                  <a:srgbClr val="FF339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Определете отговорник за изпълнение.</a:t>
            </a:r>
            <a:endParaRPr lang="en-US" sz="1850" dirty="0">
              <a:solidFill>
                <a:srgbClr val="FF3399"/>
              </a:solidFill>
            </a:endParaRPr>
          </a:p>
        </p:txBody>
      </p:sp>
      <p:sp>
        <p:nvSpPr>
          <p:cNvPr id="12" name="Shape 7"/>
          <p:cNvSpPr/>
          <p:nvPr/>
        </p:nvSpPr>
        <p:spPr>
          <a:xfrm>
            <a:off x="837724" y="5226606"/>
            <a:ext cx="538520" cy="538520"/>
          </a:xfrm>
          <a:prstGeom prst="roundRect">
            <a:avLst>
              <a:gd name="adj" fmla="val 18670"/>
            </a:avLst>
          </a:prstGeom>
          <a:solidFill>
            <a:srgbClr val="F4D4F7"/>
          </a:solidFill>
          <a:ln w="7620">
            <a:solidFill>
              <a:srgbClr val="DABADD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974" y="5284589"/>
            <a:ext cx="337899" cy="42243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615559" y="5226606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just">
              <a:lnSpc>
                <a:spcPts val="2750"/>
              </a:lnSpc>
              <a:buNone/>
            </a:pPr>
            <a:r>
              <a:rPr lang="en-US" sz="2200" kern="0" spc="-44" dirty="0">
                <a:solidFill>
                  <a:srgbClr val="FF3399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Времева диаграма</a:t>
            </a:r>
            <a:endParaRPr lang="en-US" sz="2200" dirty="0">
              <a:solidFill>
                <a:srgbClr val="FF3399"/>
              </a:solidFill>
            </a:endParaRPr>
          </a:p>
        </p:txBody>
      </p:sp>
      <p:sp>
        <p:nvSpPr>
          <p:cNvPr id="15" name="Text 9"/>
          <p:cNvSpPr/>
          <p:nvPr/>
        </p:nvSpPr>
        <p:spPr>
          <a:xfrm>
            <a:off x="1615559" y="5722144"/>
            <a:ext cx="669071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just">
              <a:lnSpc>
                <a:spcPts val="3000"/>
              </a:lnSpc>
              <a:buNone/>
            </a:pPr>
            <a:r>
              <a:rPr lang="en-US" sz="1850" kern="0" spc="-38" dirty="0">
                <a:solidFill>
                  <a:srgbClr val="FF339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Визуализирайте времевата линия на проекта.</a:t>
            </a:r>
            <a:endParaRPr lang="en-US" sz="1850" dirty="0">
              <a:solidFill>
                <a:srgbClr val="FF3399"/>
              </a:solidFill>
            </a:endParaRPr>
          </a:p>
        </p:txBody>
      </p:sp>
      <p:pic>
        <p:nvPicPr>
          <p:cNvPr id="16" name="trim.99ACE644-7627-418F-840C-93A6B4BC7E4D.MOV">
            <a:hlinkClick r:id="" action="ppaction://media"/>
            <a:extLst>
              <a:ext uri="{FF2B5EF4-FFF2-40B4-BE49-F238E27FC236}">
                <a16:creationId xmlns:a16="http://schemas.microsoft.com/office/drawing/2014/main" id="{29AAACDC-7638-8083-448F-18F3C309D41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9223977" y="0"/>
            <a:ext cx="3806825" cy="8229600"/>
          </a:xfrm>
          <a:prstGeom prst="rect">
            <a:avLst/>
          </a:prstGeom>
        </p:spPr>
      </p:pic>
      <p:sp>
        <p:nvSpPr>
          <p:cNvPr id="2" name="Закръглен правоъгълник 1"/>
          <p:cNvSpPr/>
          <p:nvPr/>
        </p:nvSpPr>
        <p:spPr>
          <a:xfrm>
            <a:off x="12691241" y="7629287"/>
            <a:ext cx="1939159" cy="489954"/>
          </a:xfrm>
          <a:prstGeom prst="roundRect">
            <a:avLst/>
          </a:prstGeom>
          <a:solidFill>
            <a:srgbClr val="FFF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8" name="Shape 3"/>
          <p:cNvSpPr/>
          <p:nvPr/>
        </p:nvSpPr>
        <p:spPr>
          <a:xfrm>
            <a:off x="1567090" y="3794264"/>
            <a:ext cx="2374290" cy="45719"/>
          </a:xfrm>
          <a:prstGeom prst="roundRect">
            <a:avLst>
              <a:gd name="adj" fmla="val 659712"/>
            </a:avLst>
          </a:prstGeom>
          <a:solidFill>
            <a:srgbClr val="DABADD"/>
          </a:solidFill>
          <a:ln/>
        </p:spPr>
        <p:txBody>
          <a:bodyPr/>
          <a:lstStyle/>
          <a:p>
            <a:endParaRPr lang="bg-BG" dirty="0"/>
          </a:p>
        </p:txBody>
      </p:sp>
      <p:sp>
        <p:nvSpPr>
          <p:cNvPr id="20" name="Shape 3"/>
          <p:cNvSpPr/>
          <p:nvPr/>
        </p:nvSpPr>
        <p:spPr>
          <a:xfrm>
            <a:off x="5481628" y="3886099"/>
            <a:ext cx="2374290" cy="45719"/>
          </a:xfrm>
          <a:prstGeom prst="roundRect">
            <a:avLst>
              <a:gd name="adj" fmla="val 659712"/>
            </a:avLst>
          </a:prstGeom>
          <a:solidFill>
            <a:srgbClr val="DABADD"/>
          </a:solidFill>
          <a:ln/>
        </p:spPr>
        <p:txBody>
          <a:bodyPr/>
          <a:lstStyle/>
          <a:p>
            <a:endParaRPr lang="bg-BG" dirty="0"/>
          </a:p>
        </p:txBody>
      </p:sp>
      <p:sp>
        <p:nvSpPr>
          <p:cNvPr id="21" name="Shape 3"/>
          <p:cNvSpPr/>
          <p:nvPr/>
        </p:nvSpPr>
        <p:spPr>
          <a:xfrm>
            <a:off x="1719490" y="5656201"/>
            <a:ext cx="2374290" cy="45719"/>
          </a:xfrm>
          <a:prstGeom prst="roundRect">
            <a:avLst>
              <a:gd name="adj" fmla="val 659712"/>
            </a:avLst>
          </a:prstGeom>
          <a:solidFill>
            <a:srgbClr val="DABADD"/>
          </a:solidFill>
          <a:ln/>
        </p:spPr>
        <p:txBody>
          <a:bodyPr/>
          <a:lstStyle/>
          <a:p>
            <a:endParaRPr lang="bg-BG" dirty="0"/>
          </a:p>
        </p:txBody>
      </p:sp>
      <p:sp>
        <p:nvSpPr>
          <p:cNvPr id="22" name="Shape 3"/>
          <p:cNvSpPr/>
          <p:nvPr/>
        </p:nvSpPr>
        <p:spPr>
          <a:xfrm>
            <a:off x="5283069" y="4880848"/>
            <a:ext cx="2773110" cy="45719"/>
          </a:xfrm>
          <a:prstGeom prst="roundRect">
            <a:avLst>
              <a:gd name="adj" fmla="val 659712"/>
            </a:avLst>
          </a:prstGeom>
          <a:solidFill>
            <a:srgbClr val="DABADD"/>
          </a:solidFill>
          <a:ln/>
        </p:spPr>
        <p:txBody>
          <a:bodyPr/>
          <a:lstStyle/>
          <a:p>
            <a:endParaRPr lang="bg-BG" dirty="0"/>
          </a:p>
        </p:txBody>
      </p:sp>
      <p:sp>
        <p:nvSpPr>
          <p:cNvPr id="23" name="Shape 3"/>
          <p:cNvSpPr/>
          <p:nvPr/>
        </p:nvSpPr>
        <p:spPr>
          <a:xfrm>
            <a:off x="1567090" y="4833581"/>
            <a:ext cx="2673834" cy="45719"/>
          </a:xfrm>
          <a:prstGeom prst="roundRect">
            <a:avLst>
              <a:gd name="adj" fmla="val 659712"/>
            </a:avLst>
          </a:prstGeom>
          <a:solidFill>
            <a:srgbClr val="DABADD"/>
          </a:solidFill>
          <a:ln/>
        </p:spPr>
        <p:txBody>
          <a:bodyPr/>
          <a:lstStyle/>
          <a:p>
            <a:endParaRPr lang="bg-BG" dirty="0"/>
          </a:p>
        </p:txBody>
      </p:sp>
      <p:sp>
        <p:nvSpPr>
          <p:cNvPr id="24" name="Shape 3"/>
          <p:cNvSpPr/>
          <p:nvPr/>
        </p:nvSpPr>
        <p:spPr>
          <a:xfrm>
            <a:off x="1567090" y="6124982"/>
            <a:ext cx="4903124" cy="45719"/>
          </a:xfrm>
          <a:prstGeom prst="roundRect">
            <a:avLst>
              <a:gd name="adj" fmla="val 659712"/>
            </a:avLst>
          </a:prstGeom>
          <a:solidFill>
            <a:srgbClr val="DABADD"/>
          </a:solidFill>
          <a:ln/>
        </p:spPr>
        <p:txBody>
          <a:bodyPr/>
          <a:lstStyle/>
          <a:p>
            <a:endParaRPr lang="bg-BG" dirty="0"/>
          </a:p>
        </p:txBody>
      </p:sp>
      <p:pic>
        <p:nvPicPr>
          <p:cNvPr id="25" name="Картина 24"/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288" y="1827071"/>
            <a:ext cx="7074984" cy="153579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" name="Text 0"/>
          <p:cNvSpPr/>
          <p:nvPr/>
        </p:nvSpPr>
        <p:spPr>
          <a:xfrm>
            <a:off x="1567090" y="2136047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kern="0" spc="-89" dirty="0">
                <a:solidFill>
                  <a:srgbClr val="D73AD7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Време и Изпълнител</a:t>
            </a:r>
            <a:endParaRPr lang="en-US" sz="440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7446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1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Картина 15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27532"/>
            <a:ext cx="14743509" cy="8657132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2387679" y="2275678"/>
            <a:ext cx="9790033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kern="0" spc="-89" dirty="0">
                <a:solidFill>
                  <a:srgbClr val="D73AD7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Управление на Промени – Мениджър</a:t>
            </a:r>
            <a:endParaRPr lang="en-US" sz="4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07638" y="3400544"/>
            <a:ext cx="2137529" cy="8305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07988" y="3694033"/>
            <a:ext cx="336590" cy="420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200"/>
              </a:lnSpc>
              <a:buNone/>
            </a:pPr>
            <a:r>
              <a:rPr lang="en-US" sz="2650" kern="0" spc="-47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1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5384482" y="3639860"/>
            <a:ext cx="2349103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kern="0" spc="-44" dirty="0">
                <a:solidFill>
                  <a:srgbClr val="FF3399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Промяна на етапа</a:t>
            </a:r>
            <a:endParaRPr lang="en-US" sz="2200" dirty="0">
              <a:solidFill>
                <a:srgbClr val="FF3399"/>
              </a:solidFill>
            </a:endParaRPr>
          </a:p>
        </p:txBody>
      </p:sp>
      <p:sp>
        <p:nvSpPr>
          <p:cNvPr id="6" name="Shape 3"/>
          <p:cNvSpPr/>
          <p:nvPr/>
        </p:nvSpPr>
        <p:spPr>
          <a:xfrm>
            <a:off x="5204936" y="4245769"/>
            <a:ext cx="8527971" cy="15240"/>
          </a:xfrm>
          <a:prstGeom prst="roundRect">
            <a:avLst>
              <a:gd name="adj" fmla="val 659712"/>
            </a:avLst>
          </a:prstGeom>
          <a:solidFill>
            <a:srgbClr val="DABADD"/>
          </a:solidFill>
          <a:ln/>
        </p:spPr>
        <p:txBody>
          <a:bodyPr/>
          <a:lstStyle/>
          <a:p>
            <a:endParaRPr lang="bg-BG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38814" y="4290893"/>
            <a:ext cx="4275058" cy="8305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907988" y="4495800"/>
            <a:ext cx="336590" cy="420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200"/>
              </a:lnSpc>
              <a:buNone/>
            </a:pPr>
            <a:r>
              <a:rPr lang="en-US" sz="2650" kern="0" spc="-47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2</a:t>
            </a:r>
            <a:endParaRPr lang="en-US" sz="2650" dirty="0"/>
          </a:p>
        </p:txBody>
      </p:sp>
      <p:sp>
        <p:nvSpPr>
          <p:cNvPr id="9" name="Text 5"/>
          <p:cNvSpPr/>
          <p:nvPr/>
        </p:nvSpPr>
        <p:spPr>
          <a:xfrm>
            <a:off x="6453187" y="4530209"/>
            <a:ext cx="1459944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kern="0" spc="-44" dirty="0">
                <a:solidFill>
                  <a:srgbClr val="FF3399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Коментари</a:t>
            </a:r>
            <a:endParaRPr lang="en-US" sz="2200" dirty="0">
              <a:solidFill>
                <a:srgbClr val="FF3399"/>
              </a:solidFill>
            </a:endParaRPr>
          </a:p>
        </p:txBody>
      </p:sp>
      <p:sp>
        <p:nvSpPr>
          <p:cNvPr id="10" name="Shape 6"/>
          <p:cNvSpPr/>
          <p:nvPr/>
        </p:nvSpPr>
        <p:spPr>
          <a:xfrm>
            <a:off x="6273641" y="5136118"/>
            <a:ext cx="7459266" cy="15240"/>
          </a:xfrm>
          <a:prstGeom prst="roundRect">
            <a:avLst>
              <a:gd name="adj" fmla="val 659712"/>
            </a:avLst>
          </a:prstGeom>
          <a:solidFill>
            <a:srgbClr val="DABADD"/>
          </a:solidFill>
          <a:ln/>
        </p:spPr>
        <p:txBody>
          <a:bodyPr/>
          <a:lstStyle/>
          <a:p>
            <a:endParaRPr lang="bg-BG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0109" y="5181243"/>
            <a:ext cx="6412587" cy="8305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908107" y="5386149"/>
            <a:ext cx="336590" cy="420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200"/>
              </a:lnSpc>
              <a:buNone/>
            </a:pPr>
            <a:r>
              <a:rPr lang="en-US" sz="2650" kern="0" spc="-47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3</a:t>
            </a:r>
            <a:endParaRPr lang="en-US" sz="2650" dirty="0"/>
          </a:p>
        </p:txBody>
      </p:sp>
      <p:sp>
        <p:nvSpPr>
          <p:cNvPr id="13" name="Text 8"/>
          <p:cNvSpPr/>
          <p:nvPr/>
        </p:nvSpPr>
        <p:spPr>
          <a:xfrm>
            <a:off x="7522012" y="5420558"/>
            <a:ext cx="2134672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kern="0" spc="-44" dirty="0">
                <a:solidFill>
                  <a:srgbClr val="FF3399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Преназначаване</a:t>
            </a:r>
            <a:endParaRPr lang="en-US" sz="2200" dirty="0">
              <a:solidFill>
                <a:srgbClr val="FF3399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2876551" y="7779895"/>
            <a:ext cx="1618938" cy="344774"/>
          </a:xfrm>
          <a:prstGeom prst="rect">
            <a:avLst/>
          </a:prstGeom>
          <a:solidFill>
            <a:srgbClr val="FFFEFE"/>
          </a:solidFill>
          <a:ln>
            <a:solidFill>
              <a:srgbClr val="FFFEF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3238" y="5153263"/>
            <a:ext cx="8529637" cy="19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Картина 14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27532"/>
            <a:ext cx="14743509" cy="8657132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837724" y="2157889"/>
            <a:ext cx="10724912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kern="0" spc="-89" dirty="0">
                <a:solidFill>
                  <a:srgbClr val="D73AD7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Управление на Промени – Член на Екипа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37724" y="3340656"/>
            <a:ext cx="2159079" cy="830580"/>
          </a:xfrm>
          <a:prstGeom prst="roundRect">
            <a:avLst>
              <a:gd name="adj" fmla="val 12105"/>
            </a:avLst>
          </a:prstGeom>
          <a:solidFill>
            <a:srgbClr val="F4D4F7"/>
          </a:solidFill>
          <a:ln w="7620">
            <a:solidFill>
              <a:srgbClr val="DABADD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48909" y="3545562"/>
            <a:ext cx="336590" cy="42076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36119" y="3579971"/>
            <a:ext cx="1649730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kern="0" spc="-44" dirty="0">
                <a:solidFill>
                  <a:srgbClr val="FF3399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Отбелязване</a:t>
            </a:r>
            <a:endParaRPr lang="en-US" sz="2200" dirty="0">
              <a:solidFill>
                <a:srgbClr val="FF3399"/>
              </a:solidFill>
            </a:endParaRPr>
          </a:p>
        </p:txBody>
      </p:sp>
      <p:sp>
        <p:nvSpPr>
          <p:cNvPr id="6" name="Shape 3"/>
          <p:cNvSpPr/>
          <p:nvPr/>
        </p:nvSpPr>
        <p:spPr>
          <a:xfrm>
            <a:off x="3116461" y="4155996"/>
            <a:ext cx="10556558" cy="15240"/>
          </a:xfrm>
          <a:prstGeom prst="roundRect">
            <a:avLst>
              <a:gd name="adj" fmla="val 659712"/>
            </a:avLst>
          </a:prstGeom>
          <a:solidFill>
            <a:srgbClr val="DABADD"/>
          </a:solidFill>
          <a:ln/>
        </p:spPr>
        <p:txBody>
          <a:bodyPr/>
          <a:lstStyle/>
          <a:p>
            <a:endParaRPr lang="bg-BG"/>
          </a:p>
        </p:txBody>
      </p:sp>
      <p:sp>
        <p:nvSpPr>
          <p:cNvPr id="7" name="Shape 4"/>
          <p:cNvSpPr/>
          <p:nvPr/>
        </p:nvSpPr>
        <p:spPr>
          <a:xfrm>
            <a:off x="837724" y="4290893"/>
            <a:ext cx="4318278" cy="830580"/>
          </a:xfrm>
          <a:prstGeom prst="roundRect">
            <a:avLst>
              <a:gd name="adj" fmla="val 12105"/>
            </a:avLst>
          </a:prstGeom>
          <a:solidFill>
            <a:srgbClr val="F4D4F7"/>
          </a:solidFill>
          <a:ln w="7620">
            <a:solidFill>
              <a:srgbClr val="DABADD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8568" y="4495800"/>
            <a:ext cx="336590" cy="42076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395317" y="4530209"/>
            <a:ext cx="1459944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kern="0" spc="-44" dirty="0">
                <a:solidFill>
                  <a:srgbClr val="FF3399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Коментари</a:t>
            </a:r>
            <a:endParaRPr lang="en-US" sz="2200" dirty="0">
              <a:solidFill>
                <a:srgbClr val="FF3399"/>
              </a:solidFill>
            </a:endParaRPr>
          </a:p>
        </p:txBody>
      </p:sp>
      <p:sp>
        <p:nvSpPr>
          <p:cNvPr id="10" name="Shape 6"/>
          <p:cNvSpPr/>
          <p:nvPr/>
        </p:nvSpPr>
        <p:spPr>
          <a:xfrm>
            <a:off x="5275659" y="5106233"/>
            <a:ext cx="8397359" cy="15240"/>
          </a:xfrm>
          <a:prstGeom prst="roundRect">
            <a:avLst>
              <a:gd name="adj" fmla="val 659712"/>
            </a:avLst>
          </a:prstGeom>
          <a:solidFill>
            <a:srgbClr val="DABADD"/>
          </a:solidFill>
          <a:ln/>
        </p:spPr>
        <p:txBody>
          <a:bodyPr/>
          <a:lstStyle/>
          <a:p>
            <a:endParaRPr lang="bg-BG"/>
          </a:p>
        </p:txBody>
      </p:sp>
      <p:sp>
        <p:nvSpPr>
          <p:cNvPr id="11" name="Shape 7"/>
          <p:cNvSpPr/>
          <p:nvPr/>
        </p:nvSpPr>
        <p:spPr>
          <a:xfrm>
            <a:off x="837724" y="5241131"/>
            <a:ext cx="6477476" cy="830580"/>
          </a:xfrm>
          <a:prstGeom prst="roundRect">
            <a:avLst>
              <a:gd name="adj" fmla="val 12105"/>
            </a:avLst>
          </a:prstGeom>
          <a:solidFill>
            <a:srgbClr val="F4D4F7"/>
          </a:solidFill>
          <a:ln w="7620">
            <a:solidFill>
              <a:srgbClr val="DABADD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08107" y="5446038"/>
            <a:ext cx="336590" cy="42076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554516" y="5480447"/>
            <a:ext cx="1062871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kern="0" spc="-44" dirty="0">
                <a:solidFill>
                  <a:srgbClr val="FF3399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Качване</a:t>
            </a:r>
            <a:endParaRPr lang="en-US" sz="2200" dirty="0">
              <a:solidFill>
                <a:srgbClr val="FF3399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2876551" y="7779895"/>
            <a:ext cx="1618938" cy="344774"/>
          </a:xfrm>
          <a:prstGeom prst="rect">
            <a:avLst/>
          </a:prstGeom>
          <a:solidFill>
            <a:srgbClr val="FFFEFE"/>
          </a:solidFill>
          <a:ln>
            <a:solidFill>
              <a:srgbClr val="FFFEF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Картина 43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36756" y="0"/>
            <a:ext cx="16135570" cy="82296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837724" y="1999178"/>
            <a:ext cx="12954952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kern="0" spc="-89" dirty="0">
                <a:solidFill>
                  <a:srgbClr val="D73AD7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Визуализация на работния процес: Яснота и контрол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837724" y="5847398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endParaRPr lang="en-US" sz="1850" dirty="0"/>
          </a:p>
        </p:txBody>
      </p:sp>
      <p:sp>
        <p:nvSpPr>
          <p:cNvPr id="12" name="Rectangle 11"/>
          <p:cNvSpPr/>
          <p:nvPr/>
        </p:nvSpPr>
        <p:spPr>
          <a:xfrm>
            <a:off x="12876551" y="7779895"/>
            <a:ext cx="1618938" cy="344774"/>
          </a:xfrm>
          <a:prstGeom prst="rect">
            <a:avLst/>
          </a:prstGeom>
          <a:solidFill>
            <a:srgbClr val="FFFEFE"/>
          </a:solidFill>
          <a:ln>
            <a:solidFill>
              <a:srgbClr val="FFFEF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pic>
        <p:nvPicPr>
          <p:cNvPr id="15" name="Картина 14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621" y="4766817"/>
            <a:ext cx="3365032" cy="153885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Text 2"/>
          <p:cNvSpPr/>
          <p:nvPr/>
        </p:nvSpPr>
        <p:spPr>
          <a:xfrm>
            <a:off x="837724" y="4927088"/>
            <a:ext cx="2800826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3000"/>
              </a:lnSpc>
              <a:buNone/>
            </a:pPr>
            <a:r>
              <a:rPr lang="en-US" sz="1850" b="1" kern="0" spc="-38" dirty="0">
                <a:solidFill>
                  <a:srgbClr val="FFFEF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Подвижни карти за задачи, статус и отговорници.</a:t>
            </a:r>
            <a:endParaRPr lang="en-US" sz="1850" b="1" dirty="0">
              <a:solidFill>
                <a:srgbClr val="FFFEFE"/>
              </a:solidFill>
            </a:endParaRPr>
          </a:p>
        </p:txBody>
      </p:sp>
      <p:pic>
        <p:nvPicPr>
          <p:cNvPr id="16" name="Картина 15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7575" y="4784915"/>
            <a:ext cx="3365032" cy="153885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7" name="Картина 16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7950" y="4784915"/>
            <a:ext cx="3365032" cy="153885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8" name="Картина 17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9386" y="4720458"/>
            <a:ext cx="3365032" cy="153885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Text 4"/>
          <p:cNvSpPr/>
          <p:nvPr/>
        </p:nvSpPr>
        <p:spPr>
          <a:xfrm>
            <a:off x="4230053" y="4989887"/>
            <a:ext cx="2800826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3000"/>
              </a:lnSpc>
              <a:buNone/>
            </a:pPr>
            <a:r>
              <a:rPr lang="en-US" sz="1850" b="1" kern="0" spc="-38" dirty="0">
                <a:solidFill>
                  <a:srgbClr val="FFFEF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Линейно представяне на задачите за бърз преглед.</a:t>
            </a:r>
            <a:endParaRPr lang="en-US" sz="1850" b="1" dirty="0">
              <a:solidFill>
                <a:srgbClr val="FFFEFE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7889526" y="5076512"/>
            <a:ext cx="2800826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3000"/>
              </a:lnSpc>
              <a:buNone/>
            </a:pPr>
            <a:r>
              <a:rPr lang="en-US" sz="1850" b="1" kern="0" spc="-38" dirty="0">
                <a:solidFill>
                  <a:srgbClr val="FFFEF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Преглед на задачите според крайния срок.</a:t>
            </a:r>
            <a:endParaRPr lang="en-US" sz="1850" b="1" dirty="0">
              <a:solidFill>
                <a:srgbClr val="FFFEFE"/>
              </a:solidFill>
            </a:endParaRPr>
          </a:p>
        </p:txBody>
      </p:sp>
      <p:pic>
        <p:nvPicPr>
          <p:cNvPr id="45" name="Картина 44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234" y="3685743"/>
            <a:ext cx="2530316" cy="101079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46" name="Картина 45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0053" y="3695268"/>
            <a:ext cx="2206629" cy="101079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47" name="Картина 46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9818" y="3638594"/>
            <a:ext cx="2206629" cy="101079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48" name="Картина 47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4710" y="3609402"/>
            <a:ext cx="2206629" cy="101079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0" name="Text 8"/>
          <p:cNvSpPr/>
          <p:nvPr/>
        </p:nvSpPr>
        <p:spPr>
          <a:xfrm>
            <a:off x="11211489" y="5076512"/>
            <a:ext cx="2800826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3000"/>
              </a:lnSpc>
              <a:buNone/>
            </a:pPr>
            <a:r>
              <a:rPr lang="en-US" sz="1850" b="1" kern="0" spc="-38" dirty="0">
                <a:solidFill>
                  <a:srgbClr val="FFFEF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Анализ на напредъка и производителността.</a:t>
            </a:r>
            <a:endParaRPr lang="en-US" sz="1850" b="1" dirty="0">
              <a:solidFill>
                <a:srgbClr val="FFFEFE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1119827" y="4005501"/>
            <a:ext cx="2800826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kern="0" spc="-44" dirty="0">
                <a:solidFill>
                  <a:srgbClr val="FFFEFE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Канбан дъски</a:t>
            </a:r>
            <a:endParaRPr lang="en-US" sz="2200" dirty="0">
              <a:solidFill>
                <a:srgbClr val="FFFEFE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4630203" y="3938825"/>
            <a:ext cx="2800826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kern="0" spc="-44" dirty="0">
                <a:solidFill>
                  <a:srgbClr val="FFFEFE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Списъци</a:t>
            </a:r>
            <a:endParaRPr lang="en-US" sz="2200" dirty="0">
              <a:solidFill>
                <a:srgbClr val="FFFEFE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7889526" y="4024691"/>
            <a:ext cx="2800826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kern="0" spc="-44" dirty="0">
                <a:solidFill>
                  <a:srgbClr val="FFFEFE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Календар</a:t>
            </a:r>
            <a:endParaRPr lang="en-US" sz="2200" dirty="0">
              <a:solidFill>
                <a:srgbClr val="FFFEFE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11296813" y="3981926"/>
            <a:ext cx="2800826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kern="0" spc="-44" dirty="0">
                <a:solidFill>
                  <a:srgbClr val="FFFEFE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Графики</a:t>
            </a:r>
            <a:endParaRPr lang="en-US" sz="2200" dirty="0">
              <a:solidFill>
                <a:srgbClr val="FFFEF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5039349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Картина 14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216" y="5590818"/>
            <a:ext cx="6673060" cy="103417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6" name="Картина 15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5473" y="3214687"/>
            <a:ext cx="3710804" cy="18002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7" name="Картина 16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102" y="3238981"/>
            <a:ext cx="4225898" cy="18002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838557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kern="0" spc="-89" dirty="0">
                <a:solidFill>
                  <a:srgbClr val="D73AD7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Ограничаване на задачите: Фокус и ефективност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1084659" y="2852499"/>
            <a:ext cx="2851547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kern="0" spc="-44" dirty="0">
                <a:solidFill>
                  <a:srgbClr val="FF3399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По-бързо изпълнение</a:t>
            </a:r>
            <a:endParaRPr lang="en-US" sz="2200" b="1" dirty="0">
              <a:solidFill>
                <a:srgbClr val="FF3399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564568" y="3508473"/>
            <a:ext cx="3487341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3000"/>
              </a:lnSpc>
              <a:buNone/>
            </a:pPr>
            <a:r>
              <a:rPr lang="en-US" sz="1850" kern="0" spc="-38" dirty="0">
                <a:solidFill>
                  <a:srgbClr val="FF33C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Задачите се завършват по-бързо, когато се работи върху по-малко неща едновременно.</a:t>
            </a:r>
            <a:endParaRPr lang="en-US" sz="1850" dirty="0">
              <a:solidFill>
                <a:srgbClr val="FF33CC"/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4715708" y="2606109"/>
            <a:ext cx="3890097" cy="844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kern="0" spc="-44" dirty="0">
                <a:solidFill>
                  <a:srgbClr val="FF3399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Намаляване на разпиляването</a:t>
            </a:r>
            <a:endParaRPr lang="en-US" sz="2200" b="1" dirty="0">
              <a:solidFill>
                <a:srgbClr val="FF3399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4938593" y="3699986"/>
            <a:ext cx="322508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3000"/>
              </a:lnSpc>
              <a:buNone/>
            </a:pPr>
            <a:r>
              <a:rPr lang="en-US" sz="1850" kern="0" spc="-38" dirty="0">
                <a:solidFill>
                  <a:srgbClr val="FF33C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Фокусът се запазва върху най-важното.</a:t>
            </a:r>
            <a:endParaRPr lang="en-US" sz="1850" dirty="0">
              <a:solidFill>
                <a:srgbClr val="FF33CC"/>
              </a:solidFill>
            </a:endParaRPr>
          </a:p>
        </p:txBody>
      </p:sp>
      <p:sp>
        <p:nvSpPr>
          <p:cNvPr id="11" name="Text 8"/>
          <p:cNvSpPr/>
          <p:nvPr/>
        </p:nvSpPr>
        <p:spPr>
          <a:xfrm>
            <a:off x="1084659" y="5230297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kern="0" spc="-44" dirty="0">
                <a:solidFill>
                  <a:srgbClr val="FF3399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По-добро качество</a:t>
            </a:r>
            <a:endParaRPr lang="en-US" sz="2200" b="1" dirty="0">
              <a:solidFill>
                <a:srgbClr val="FF3399"/>
              </a:solidFill>
            </a:endParaRPr>
          </a:p>
        </p:txBody>
      </p:sp>
      <p:sp>
        <p:nvSpPr>
          <p:cNvPr id="12" name="Text 9"/>
          <p:cNvSpPr/>
          <p:nvPr/>
        </p:nvSpPr>
        <p:spPr>
          <a:xfrm>
            <a:off x="1084659" y="5725834"/>
            <a:ext cx="2447161" cy="10691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just">
              <a:lnSpc>
                <a:spcPts val="3000"/>
              </a:lnSpc>
              <a:buNone/>
            </a:pPr>
            <a:r>
              <a:rPr lang="en-US" sz="1850" kern="0" spc="-38" dirty="0">
                <a:solidFill>
                  <a:srgbClr val="FF33C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Подобрява се концентрацията и вниманието към детайла.</a:t>
            </a:r>
            <a:endParaRPr lang="en-US" sz="1850" dirty="0">
              <a:solidFill>
                <a:srgbClr val="FF33CC"/>
              </a:solidFill>
            </a:endParaRPr>
          </a:p>
        </p:txBody>
      </p:sp>
      <p:sp>
        <p:nvSpPr>
          <p:cNvPr id="13" name="Text 10"/>
          <p:cNvSpPr/>
          <p:nvPr/>
        </p:nvSpPr>
        <p:spPr>
          <a:xfrm>
            <a:off x="837724" y="6624995"/>
            <a:ext cx="746855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endParaRPr lang="en-US" sz="1850" dirty="0"/>
          </a:p>
        </p:txBody>
      </p:sp>
    </p:spTree>
    <p:extLst>
      <p:ext uri="{BB962C8B-B14F-4D97-AF65-F5344CB8AC3E}">
        <p14:creationId xmlns:p14="http://schemas.microsoft.com/office/powerpoint/2010/main" val="3421472797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1138357"/>
            <a:ext cx="7468553" cy="2112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kern="0" spc="-89" dirty="0">
                <a:solidFill>
                  <a:srgbClr val="D73AD7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Управление и подобряване: Наблюдение и решаване на проблемите</a:t>
            </a:r>
            <a:endParaRPr lang="en-US" sz="44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724" y="3609380"/>
            <a:ext cx="562451" cy="56245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37724" y="4411147"/>
            <a:ext cx="1700484" cy="375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kern="0" spc="-44" dirty="0">
                <a:solidFill>
                  <a:srgbClr val="FF3399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Отчети</a:t>
            </a:r>
            <a:endParaRPr lang="en-US" sz="2200" dirty="0">
              <a:solidFill>
                <a:srgbClr val="FF3399"/>
              </a:solidFill>
            </a:endParaRPr>
          </a:p>
        </p:txBody>
      </p:sp>
      <p:sp>
        <p:nvSpPr>
          <p:cNvPr id="6" name="Text 2"/>
          <p:cNvSpPr/>
          <p:nvPr/>
        </p:nvSpPr>
        <p:spPr>
          <a:xfrm>
            <a:off x="562885" y="4906685"/>
            <a:ext cx="2250162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kern="0" spc="-38" dirty="0">
                <a:solidFill>
                  <a:srgbClr val="FF339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Следете напредъка по проекти.</a:t>
            </a:r>
            <a:endParaRPr lang="en-US" sz="1850" dirty="0">
              <a:solidFill>
                <a:srgbClr val="FF3399"/>
              </a:solidFill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6859" y="3609380"/>
            <a:ext cx="562451" cy="56245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446919" y="4411147"/>
            <a:ext cx="2250162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kern="0" spc="-44" dirty="0">
                <a:solidFill>
                  <a:srgbClr val="FF3399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Графики</a:t>
            </a:r>
            <a:endParaRPr lang="en-US" sz="2200" dirty="0">
              <a:solidFill>
                <a:srgbClr val="FF3399"/>
              </a:solidFill>
            </a:endParaRPr>
          </a:p>
        </p:txBody>
      </p:sp>
      <p:sp>
        <p:nvSpPr>
          <p:cNvPr id="9" name="Text 4"/>
          <p:cNvSpPr/>
          <p:nvPr/>
        </p:nvSpPr>
        <p:spPr>
          <a:xfrm>
            <a:off x="3446859" y="4906685"/>
            <a:ext cx="2250162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kern="0" spc="-38" dirty="0">
                <a:solidFill>
                  <a:srgbClr val="FF339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Анализирайте производителността на екипа.</a:t>
            </a:r>
            <a:endParaRPr lang="en-US" sz="1850" dirty="0">
              <a:solidFill>
                <a:srgbClr val="FF3399"/>
              </a:solidFill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55995" y="3609380"/>
            <a:ext cx="562570" cy="56257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055995" y="4411266"/>
            <a:ext cx="2250281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kern="0" spc="-44" dirty="0">
                <a:solidFill>
                  <a:srgbClr val="FF3399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Хронология</a:t>
            </a:r>
            <a:endParaRPr lang="en-US" sz="2200" dirty="0">
              <a:solidFill>
                <a:srgbClr val="FF3399"/>
              </a:solidFill>
            </a:endParaRPr>
          </a:p>
        </p:txBody>
      </p:sp>
      <p:sp>
        <p:nvSpPr>
          <p:cNvPr id="12" name="Text 6"/>
          <p:cNvSpPr/>
          <p:nvPr/>
        </p:nvSpPr>
        <p:spPr>
          <a:xfrm>
            <a:off x="6055995" y="4906804"/>
            <a:ext cx="2250281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kern="0" spc="-38" dirty="0">
                <a:solidFill>
                  <a:srgbClr val="FF339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Проследявайте историята на задачите.</a:t>
            </a:r>
            <a:endParaRPr lang="en-US" sz="1850" dirty="0">
              <a:solidFill>
                <a:srgbClr val="FF3399"/>
              </a:solidFill>
            </a:endParaRPr>
          </a:p>
        </p:txBody>
      </p:sp>
      <p:sp>
        <p:nvSpPr>
          <p:cNvPr id="13" name="Text 7"/>
          <p:cNvSpPr/>
          <p:nvPr/>
        </p:nvSpPr>
        <p:spPr>
          <a:xfrm>
            <a:off x="837724" y="6325076"/>
            <a:ext cx="746855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endParaRPr lang="en-US" sz="1850" dirty="0">
              <a:solidFill>
                <a:srgbClr val="FF3399"/>
              </a:solidFill>
            </a:endParaRPr>
          </a:p>
        </p:txBody>
      </p:sp>
      <p:sp>
        <p:nvSpPr>
          <p:cNvPr id="14" name="Shape 3"/>
          <p:cNvSpPr/>
          <p:nvPr/>
        </p:nvSpPr>
        <p:spPr>
          <a:xfrm>
            <a:off x="713596" y="4786670"/>
            <a:ext cx="1249209" cy="45719"/>
          </a:xfrm>
          <a:prstGeom prst="roundRect">
            <a:avLst>
              <a:gd name="adj" fmla="val 659712"/>
            </a:avLst>
          </a:prstGeom>
          <a:solidFill>
            <a:srgbClr val="DABADD"/>
          </a:solidFill>
          <a:ln/>
        </p:spPr>
        <p:txBody>
          <a:bodyPr/>
          <a:lstStyle/>
          <a:p>
            <a:endParaRPr lang="bg-BG" dirty="0"/>
          </a:p>
        </p:txBody>
      </p:sp>
      <p:sp>
        <p:nvSpPr>
          <p:cNvPr id="15" name="Shape 3"/>
          <p:cNvSpPr/>
          <p:nvPr/>
        </p:nvSpPr>
        <p:spPr>
          <a:xfrm>
            <a:off x="3446859" y="4807151"/>
            <a:ext cx="1811237" cy="45719"/>
          </a:xfrm>
          <a:prstGeom prst="roundRect">
            <a:avLst>
              <a:gd name="adj" fmla="val 659712"/>
            </a:avLst>
          </a:prstGeom>
          <a:solidFill>
            <a:srgbClr val="DABADD"/>
          </a:solidFill>
          <a:ln/>
        </p:spPr>
        <p:txBody>
          <a:bodyPr/>
          <a:lstStyle/>
          <a:p>
            <a:endParaRPr lang="bg-BG" dirty="0"/>
          </a:p>
        </p:txBody>
      </p:sp>
      <p:sp>
        <p:nvSpPr>
          <p:cNvPr id="16" name="Shape 3"/>
          <p:cNvSpPr/>
          <p:nvPr/>
        </p:nvSpPr>
        <p:spPr>
          <a:xfrm>
            <a:off x="6055995" y="4774170"/>
            <a:ext cx="1484114" cy="45719"/>
          </a:xfrm>
          <a:prstGeom prst="roundRect">
            <a:avLst>
              <a:gd name="adj" fmla="val 659712"/>
            </a:avLst>
          </a:prstGeom>
          <a:solidFill>
            <a:srgbClr val="DABADD"/>
          </a:solidFill>
          <a:ln/>
        </p:spPr>
        <p:txBody>
          <a:bodyPr/>
          <a:lstStyle/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86010571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3837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7345" y="2908102"/>
            <a:ext cx="11063645" cy="560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kern="0" spc="-71" dirty="0">
                <a:solidFill>
                  <a:srgbClr val="D73AD7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Ясни политики: Дефиниране на правилата на играта</a:t>
            </a:r>
            <a:endParaRPr lang="en-US" sz="35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345" y="3754993"/>
            <a:ext cx="953453" cy="114419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906786" y="3945612"/>
            <a:ext cx="2243495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kern="0" spc="-35" dirty="0">
                <a:solidFill>
                  <a:srgbClr val="FF33CC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Стандарти</a:t>
            </a:r>
            <a:endParaRPr lang="en-US" sz="1750" dirty="0">
              <a:solidFill>
                <a:srgbClr val="FF33CC"/>
              </a:solidFill>
            </a:endParaRPr>
          </a:p>
        </p:txBody>
      </p:sp>
      <p:sp>
        <p:nvSpPr>
          <p:cNvPr id="6" name="Text 2"/>
          <p:cNvSpPr/>
          <p:nvPr/>
        </p:nvSpPr>
        <p:spPr>
          <a:xfrm>
            <a:off x="1906786" y="4340423"/>
            <a:ext cx="12056269" cy="30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kern="0" spc="-30" dirty="0">
                <a:solidFill>
                  <a:srgbClr val="FF339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Определете критерии за качество.</a:t>
            </a:r>
            <a:endParaRPr lang="en-US" sz="1500" dirty="0">
              <a:solidFill>
                <a:srgbClr val="FF3399"/>
              </a:solidFill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345" y="4899184"/>
            <a:ext cx="953453" cy="114419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906786" y="5089803"/>
            <a:ext cx="2243495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kern="0" spc="-35" dirty="0">
                <a:solidFill>
                  <a:srgbClr val="FF33CC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Процедури</a:t>
            </a:r>
            <a:endParaRPr lang="en-US" sz="1750" dirty="0">
              <a:solidFill>
                <a:srgbClr val="FF33CC"/>
              </a:solidFill>
            </a:endParaRPr>
          </a:p>
        </p:txBody>
      </p:sp>
      <p:sp>
        <p:nvSpPr>
          <p:cNvPr id="9" name="Text 4"/>
          <p:cNvSpPr/>
          <p:nvPr/>
        </p:nvSpPr>
        <p:spPr>
          <a:xfrm>
            <a:off x="1906786" y="5484614"/>
            <a:ext cx="12056269" cy="30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kern="0" spc="-30" dirty="0">
                <a:solidFill>
                  <a:srgbClr val="FF339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Установете правила за одобрение.</a:t>
            </a:r>
            <a:endParaRPr lang="en-US" sz="1500" dirty="0">
              <a:solidFill>
                <a:srgbClr val="FF3399"/>
              </a:solidFill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345" y="6043374"/>
            <a:ext cx="953453" cy="114419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906786" y="6233993"/>
            <a:ext cx="2243495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kern="0" spc="-35" dirty="0">
                <a:solidFill>
                  <a:srgbClr val="FF33CC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Роли</a:t>
            </a:r>
            <a:endParaRPr lang="en-US" sz="1750" dirty="0">
              <a:solidFill>
                <a:srgbClr val="FF33CC"/>
              </a:solidFill>
            </a:endParaRPr>
          </a:p>
        </p:txBody>
      </p:sp>
      <p:sp>
        <p:nvSpPr>
          <p:cNvPr id="12" name="Text 6"/>
          <p:cNvSpPr/>
          <p:nvPr/>
        </p:nvSpPr>
        <p:spPr>
          <a:xfrm>
            <a:off x="1906786" y="6628805"/>
            <a:ext cx="12056269" cy="30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kern="0" spc="-30" dirty="0">
                <a:solidFill>
                  <a:srgbClr val="FF339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Разпределете отговорности.</a:t>
            </a:r>
            <a:endParaRPr lang="en-US" sz="1500" dirty="0">
              <a:solidFill>
                <a:srgbClr val="FF3399"/>
              </a:solidFill>
            </a:endParaRPr>
          </a:p>
        </p:txBody>
      </p:sp>
      <p:sp>
        <p:nvSpPr>
          <p:cNvPr id="13" name="Text 7"/>
          <p:cNvSpPr/>
          <p:nvPr/>
        </p:nvSpPr>
        <p:spPr>
          <a:xfrm>
            <a:off x="667345" y="7401997"/>
            <a:ext cx="13295709" cy="30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500" dirty="0"/>
          </a:p>
        </p:txBody>
      </p:sp>
      <p:sp>
        <p:nvSpPr>
          <p:cNvPr id="14" name="Rectangle 13"/>
          <p:cNvSpPr/>
          <p:nvPr/>
        </p:nvSpPr>
        <p:spPr>
          <a:xfrm>
            <a:off x="12876551" y="7779895"/>
            <a:ext cx="1618938" cy="344774"/>
          </a:xfrm>
          <a:prstGeom prst="rect">
            <a:avLst/>
          </a:prstGeom>
          <a:solidFill>
            <a:srgbClr val="FFFEFE"/>
          </a:solidFill>
          <a:ln>
            <a:solidFill>
              <a:srgbClr val="FFFEF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906531641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3664" y="584240"/>
            <a:ext cx="13143071" cy="1249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00" kern="0" spc="-79" dirty="0">
                <a:solidFill>
                  <a:srgbClr val="D73AD7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Съвместна работа и цикли на обратна връзка: Експериментиране и бърза доставка</a:t>
            </a:r>
            <a:endParaRPr lang="en-US" sz="3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2326" y="3283744"/>
            <a:ext cx="7885748" cy="7885748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3824" y="5870793"/>
            <a:ext cx="358497" cy="448151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2326" y="3283744"/>
            <a:ext cx="7885748" cy="7885748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4262" y="4270355"/>
            <a:ext cx="358497" cy="448151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72326" y="3283744"/>
            <a:ext cx="7885748" cy="7885748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67521" y="4270355"/>
            <a:ext cx="358497" cy="448151"/>
          </a:xfrm>
          <a:prstGeom prst="rect">
            <a:avLst/>
          </a:prstGeom>
        </p:spPr>
      </p:pic>
      <p:pic>
        <p:nvPicPr>
          <p:cNvPr id="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72326" y="3283744"/>
            <a:ext cx="7885748" cy="7885748"/>
          </a:xfrm>
          <a:prstGeom prst="rect">
            <a:avLst/>
          </a:prstGeom>
        </p:spPr>
      </p:pic>
      <p:pic>
        <p:nvPicPr>
          <p:cNvPr id="1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67960" y="5870793"/>
            <a:ext cx="358497" cy="448151"/>
          </a:xfrm>
          <a:prstGeom prst="rect">
            <a:avLst/>
          </a:prstGeom>
        </p:spPr>
      </p:pic>
      <p:sp>
        <p:nvSpPr>
          <p:cNvPr id="11" name="Text 1"/>
          <p:cNvSpPr/>
          <p:nvPr/>
        </p:nvSpPr>
        <p:spPr>
          <a:xfrm>
            <a:off x="743664" y="7465576"/>
            <a:ext cx="13143071" cy="340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endParaRPr lang="en-US" sz="1650" dirty="0"/>
          </a:p>
        </p:txBody>
      </p:sp>
      <p:sp>
        <p:nvSpPr>
          <p:cNvPr id="12" name="Text 2"/>
          <p:cNvSpPr/>
          <p:nvPr/>
        </p:nvSpPr>
        <p:spPr>
          <a:xfrm>
            <a:off x="1017032" y="3199090"/>
            <a:ext cx="2499836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950" kern="0" spc="-39" dirty="0">
                <a:solidFill>
                  <a:srgbClr val="D73AD7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Споделяне</a:t>
            </a:r>
            <a:endParaRPr lang="en-US" sz="1950" dirty="0"/>
          </a:p>
        </p:txBody>
      </p:sp>
      <p:sp>
        <p:nvSpPr>
          <p:cNvPr id="13" name="Text 3"/>
          <p:cNvSpPr/>
          <p:nvPr/>
        </p:nvSpPr>
        <p:spPr>
          <a:xfrm>
            <a:off x="743664" y="3639026"/>
            <a:ext cx="3046690" cy="6800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1650" kern="0" spc="-33" dirty="0">
                <a:solidFill>
                  <a:srgbClr val="FF339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Лесно споделяне на информация в Asana.</a:t>
            </a:r>
            <a:endParaRPr lang="en-US" sz="1650" dirty="0">
              <a:solidFill>
                <a:srgbClr val="FF3399"/>
              </a:solidFill>
            </a:endParaRPr>
          </a:p>
        </p:txBody>
      </p:sp>
      <p:sp>
        <p:nvSpPr>
          <p:cNvPr id="14" name="Text 4"/>
          <p:cNvSpPr/>
          <p:nvPr/>
        </p:nvSpPr>
        <p:spPr>
          <a:xfrm>
            <a:off x="4470559" y="2258854"/>
            <a:ext cx="2323743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950" kern="0" spc="-39" dirty="0">
                <a:solidFill>
                  <a:srgbClr val="D73AD7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Брейнсторминг</a:t>
            </a:r>
            <a:endParaRPr lang="en-US" sz="1950" dirty="0"/>
          </a:p>
        </p:txBody>
      </p:sp>
      <p:sp>
        <p:nvSpPr>
          <p:cNvPr id="15" name="Text 5"/>
          <p:cNvSpPr/>
          <p:nvPr/>
        </p:nvSpPr>
        <p:spPr>
          <a:xfrm>
            <a:off x="4470559" y="2698790"/>
            <a:ext cx="2323743" cy="340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1650" kern="0" spc="-33" dirty="0">
                <a:solidFill>
                  <a:srgbClr val="FF339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Генериране на нови идеи.</a:t>
            </a:r>
            <a:endParaRPr lang="en-US" sz="1650" dirty="0">
              <a:solidFill>
                <a:srgbClr val="FF3399"/>
              </a:solidFill>
            </a:endParaRPr>
          </a:p>
        </p:txBody>
      </p:sp>
      <p:sp>
        <p:nvSpPr>
          <p:cNvPr id="16" name="Text 6"/>
          <p:cNvSpPr/>
          <p:nvPr/>
        </p:nvSpPr>
        <p:spPr>
          <a:xfrm>
            <a:off x="7747873" y="2258854"/>
            <a:ext cx="2499836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950" kern="0" spc="-39" dirty="0">
                <a:solidFill>
                  <a:srgbClr val="D73AD7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Тестване</a:t>
            </a:r>
            <a:endParaRPr lang="en-US" sz="1950" dirty="0"/>
          </a:p>
        </p:txBody>
      </p:sp>
      <p:sp>
        <p:nvSpPr>
          <p:cNvPr id="17" name="Text 7"/>
          <p:cNvSpPr/>
          <p:nvPr/>
        </p:nvSpPr>
        <p:spPr>
          <a:xfrm>
            <a:off x="7657267" y="2698790"/>
            <a:ext cx="2681168" cy="340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1650" kern="0" spc="-33" dirty="0">
                <a:solidFill>
                  <a:srgbClr val="FF339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Изпробване на нови подходи.</a:t>
            </a:r>
            <a:endParaRPr lang="en-US" sz="1650" dirty="0">
              <a:solidFill>
                <a:srgbClr val="FF3399"/>
              </a:solidFill>
            </a:endParaRPr>
          </a:p>
        </p:txBody>
      </p:sp>
      <p:sp>
        <p:nvSpPr>
          <p:cNvPr id="18" name="Text 8"/>
          <p:cNvSpPr/>
          <p:nvPr/>
        </p:nvSpPr>
        <p:spPr>
          <a:xfrm>
            <a:off x="11264027" y="3539133"/>
            <a:ext cx="2198608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950" kern="0" spc="-39" dirty="0">
                <a:solidFill>
                  <a:srgbClr val="D73AD7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Обратна връзка</a:t>
            </a:r>
            <a:endParaRPr lang="en-US" sz="1950" dirty="0"/>
          </a:p>
        </p:txBody>
      </p:sp>
      <p:sp>
        <p:nvSpPr>
          <p:cNvPr id="19" name="Text 9"/>
          <p:cNvSpPr/>
          <p:nvPr/>
        </p:nvSpPr>
        <p:spPr>
          <a:xfrm>
            <a:off x="11264027" y="3979069"/>
            <a:ext cx="2198608" cy="340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1650" kern="0" spc="-33" dirty="0">
                <a:solidFill>
                  <a:srgbClr val="FF339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Събиране и адаптиране.</a:t>
            </a:r>
            <a:endParaRPr lang="en-US" sz="1650" dirty="0">
              <a:solidFill>
                <a:srgbClr val="FF3399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2876551" y="7779895"/>
            <a:ext cx="1618938" cy="344774"/>
          </a:xfrm>
          <a:prstGeom prst="rect">
            <a:avLst/>
          </a:prstGeom>
          <a:solidFill>
            <a:srgbClr val="FFFEFE"/>
          </a:solidFill>
          <a:ln>
            <a:solidFill>
              <a:srgbClr val="FFFEF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913909171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E18F6E8B-15ED-43C7-94BA-91549A651C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630398" cy="82288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9CBBE3-3FE9-2A9B-1678-7DBAD75D07AA}"/>
              </a:ext>
            </a:extLst>
          </p:cNvPr>
          <p:cNvSpPr txBox="1"/>
          <p:nvPr/>
        </p:nvSpPr>
        <p:spPr>
          <a:xfrm>
            <a:off x="1336572" y="3628504"/>
            <a:ext cx="5880172" cy="32843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500" dirty="0">
                <a:solidFill>
                  <a:srgbClr val="FF33CC"/>
                </a:solidFill>
                <a:latin typeface="+mj-lt"/>
                <a:ea typeface="+mj-ea"/>
                <a:cs typeface="+mj-cs"/>
              </a:rPr>
              <a:t>Благодаря за вниманието!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3657637"/>
            <a:ext cx="877824" cy="808152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2837204" y="0"/>
            <a:ext cx="1793196" cy="8229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089A89A-1E9C-4761-9DFF-53C275FBF8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29600" y="309324"/>
            <a:ext cx="5804611" cy="357595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Cartoon duck with a blue jacket and white shirt&#10;&#10;AI-generated content may be incorrect.">
            <a:extLst>
              <a:ext uri="{FF2B5EF4-FFF2-40B4-BE49-F238E27FC236}">
                <a16:creationId xmlns:a16="http://schemas.microsoft.com/office/drawing/2014/main" id="{0EF8612D-AD46-79B7-12A6-EEB3016AEF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0699" y="566097"/>
            <a:ext cx="3062409" cy="3062409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29600" y="4154702"/>
            <a:ext cx="5804611" cy="357595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logo with a triangle and three red dots&#10;&#10;AI-generated content may be incorrect.">
            <a:extLst>
              <a:ext uri="{FF2B5EF4-FFF2-40B4-BE49-F238E27FC236}">
                <a16:creationId xmlns:a16="http://schemas.microsoft.com/office/drawing/2014/main" id="{00ADD977-BA1D-1237-D2E9-19FE295834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0298" y="4411476"/>
            <a:ext cx="4083210" cy="3062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415821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499</Words>
  <Application>Microsoft Office PowerPoint</Application>
  <PresentationFormat>Custom</PresentationFormat>
  <Paragraphs>112</Paragraphs>
  <Slides>15</Slides>
  <Notes>14</Notes>
  <HiddenSlides>0</HiddenSlides>
  <MMClips>3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Source Sans Pro</vt:lpstr>
      <vt:lpstr>Source Serif Pro Semi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Ибраим А. Емин</cp:lastModifiedBy>
  <cp:revision>12</cp:revision>
  <dcterms:created xsi:type="dcterms:W3CDTF">2025-03-21T07:07:21Z</dcterms:created>
  <dcterms:modified xsi:type="dcterms:W3CDTF">2025-03-26T21:07:29Z</dcterms:modified>
</cp:coreProperties>
</file>